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58811" y="2429694"/>
            <a:ext cx="6632019" cy="8457352"/>
            <a:chOff x="0" y="0"/>
            <a:chExt cx="8842692" cy="11276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42756" cy="11276457"/>
            </a:xfrm>
            <a:custGeom>
              <a:avLst/>
              <a:gdLst/>
              <a:ahLst/>
              <a:cxnLst/>
              <a:rect r="r" b="b" t="t" l="l"/>
              <a:pathLst>
                <a:path h="11276457" w="8842756">
                  <a:moveTo>
                    <a:pt x="0" y="0"/>
                  </a:moveTo>
                  <a:lnTo>
                    <a:pt x="8842756" y="0"/>
                  </a:lnTo>
                  <a:lnTo>
                    <a:pt x="8842756" y="11276457"/>
                  </a:lnTo>
                  <a:lnTo>
                    <a:pt x="0" y="11276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174" t="-19865" r="-122915" b="-8160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" y="933364"/>
            <a:ext cx="3090996" cy="52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CLASH OF THE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82436" y="768607"/>
            <a:ext cx="2998742" cy="84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E81B25"/>
                </a:solidFill>
                <a:latin typeface="Arimo Bold"/>
                <a:ea typeface="Arimo Bold"/>
                <a:cs typeface="Arimo Bold"/>
                <a:sym typeface="Arimo Bold"/>
              </a:rPr>
              <a:t>CLAWS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3593" y="3706397"/>
            <a:ext cx="9366328" cy="642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E81B25"/>
                </a:solidFill>
                <a:latin typeface="Arimo Bold"/>
                <a:ea typeface="Arimo Bold"/>
                <a:cs typeface="Arimo Bold"/>
                <a:sym typeface="Arimo Bold"/>
              </a:rPr>
              <a:t>MSRIT_THREESTRIKERS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E81B25"/>
                </a:solidFill>
                <a:latin typeface="Arimo Bold"/>
                <a:ea typeface="Arimo Bold"/>
                <a:cs typeface="Arimo Bold"/>
                <a:sym typeface="Arimo Bold"/>
              </a:rPr>
              <a:t>Clear priorities, better productivity 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44546A"/>
                </a:solidFill>
                <a:latin typeface="Arimo Bold"/>
                <a:ea typeface="Arimo Bold"/>
                <a:cs typeface="Arimo Bold"/>
                <a:sym typeface="Arimo Bold"/>
              </a:rPr>
              <a:t>Shreya Mishra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44546A"/>
                </a:solidFill>
                <a:latin typeface="Arimo Bold"/>
                <a:ea typeface="Arimo Bold"/>
                <a:cs typeface="Arimo Bold"/>
                <a:sym typeface="Arimo Bold"/>
              </a:rPr>
              <a:t>Sontam Prekshitha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44546A"/>
                </a:solidFill>
                <a:latin typeface="Arimo Bold"/>
                <a:ea typeface="Arimo Bold"/>
                <a:cs typeface="Arimo Bold"/>
                <a:sym typeface="Arimo Bold"/>
              </a:rPr>
              <a:t>Pruthvi P</a:t>
            </a:r>
          </a:p>
          <a:p>
            <a:pPr algn="ctr">
              <a:lnSpc>
                <a:spcPts val="72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06035" y="70123"/>
            <a:ext cx="1461592" cy="958567"/>
            <a:chOff x="0" y="0"/>
            <a:chExt cx="1948790" cy="1278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8815" cy="1278128"/>
            </a:xfrm>
            <a:custGeom>
              <a:avLst/>
              <a:gdLst/>
              <a:ahLst/>
              <a:cxnLst/>
              <a:rect r="r" b="b" t="t" l="l"/>
              <a:pathLst>
                <a:path h="1278128" w="1948815">
                  <a:moveTo>
                    <a:pt x="0" y="0"/>
                  </a:moveTo>
                  <a:lnTo>
                    <a:pt x="1948815" y="0"/>
                  </a:lnTo>
                  <a:lnTo>
                    <a:pt x="1948815" y="1278128"/>
                  </a:lnTo>
                  <a:lnTo>
                    <a:pt x="0" y="1278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9" r="1" b="-10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18164" y="262547"/>
            <a:ext cx="4563133" cy="42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| Tech Management, SRI-B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37042"/>
            <a:ext cx="2935605" cy="513731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PRODUCTIVITY 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664555" y="2821443"/>
            <a:ext cx="6970528" cy="4644114"/>
          </a:xfrm>
          <a:custGeom>
            <a:avLst/>
            <a:gdLst/>
            <a:ahLst/>
            <a:cxnLst/>
            <a:rect r="r" b="b" t="t" l="l"/>
            <a:pathLst>
              <a:path h="4644114" w="6970528">
                <a:moveTo>
                  <a:pt x="0" y="0"/>
                </a:moveTo>
                <a:lnTo>
                  <a:pt x="6970528" y="0"/>
                </a:lnTo>
                <a:lnTo>
                  <a:pt x="6970528" y="4644114"/>
                </a:lnTo>
                <a:lnTo>
                  <a:pt x="0" y="4644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04875" y="2745243"/>
            <a:ext cx="9463432" cy="579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665" indent="-406833" lvl="1">
              <a:lnSpc>
                <a:spcPts val="4522"/>
              </a:lnSpc>
              <a:buFont typeface="Arial"/>
              <a:buChar char="•"/>
            </a:pPr>
            <a:r>
              <a:rPr lang="en-US" sz="37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often manage multiple tasks, but struggle to decide what to  do next </a:t>
            </a:r>
          </a:p>
          <a:p>
            <a:pPr algn="l" marL="813665" indent="-406833" lvl="1">
              <a:lnSpc>
                <a:spcPts val="4522"/>
              </a:lnSpc>
              <a:buFont typeface="Arial"/>
              <a:buChar char="•"/>
            </a:pPr>
            <a:r>
              <a:rPr lang="en-US" sz="37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Important tasks get delayed due to poor prioritisation </a:t>
            </a:r>
          </a:p>
          <a:p>
            <a:pPr algn="l" marL="813665" indent="-406833" lvl="1">
              <a:lnSpc>
                <a:spcPts val="4522"/>
              </a:lnSpc>
              <a:buFont typeface="Arial"/>
              <a:buChar char="•"/>
            </a:pPr>
            <a:r>
              <a:rPr lang="en-US" sz="37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 and professionals frequently deal with multiple competing tasks</a:t>
            </a:r>
          </a:p>
          <a:p>
            <a:pPr algn="l" marL="813665" indent="-406833" lvl="1">
              <a:lnSpc>
                <a:spcPts val="4522"/>
              </a:lnSpc>
              <a:buFont typeface="Arial"/>
              <a:buChar char="•"/>
            </a:pPr>
            <a:r>
              <a:rPr lang="en-US" sz="37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tools focus on task storage rather than decision support</a:t>
            </a:r>
          </a:p>
          <a:p>
            <a:pPr algn="l" marL="813665" indent="-406833" lvl="1">
              <a:lnSpc>
                <a:spcPts val="4522"/>
              </a:lnSpc>
              <a:buFont typeface="Arial"/>
              <a:buChar char="•"/>
            </a:pPr>
            <a:r>
              <a:rPr lang="en-US" sz="376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significant amount of time is spent deciding instead of executing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PRODUCTIVITY 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Solution &amp; Gaps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152577" y="2681964"/>
            <a:ext cx="4500792" cy="5460783"/>
          </a:xfrm>
          <a:custGeom>
            <a:avLst/>
            <a:gdLst/>
            <a:ahLst/>
            <a:cxnLst/>
            <a:rect r="r" b="b" t="t" l="l"/>
            <a:pathLst>
              <a:path h="5460783" w="4500792">
                <a:moveTo>
                  <a:pt x="0" y="0"/>
                </a:moveTo>
                <a:lnTo>
                  <a:pt x="4500792" y="0"/>
                </a:lnTo>
                <a:lnTo>
                  <a:pt x="4500792" y="5460782"/>
                </a:lnTo>
                <a:lnTo>
                  <a:pt x="0" y="54607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7000"/>
            </a:blip>
            <a:stretch>
              <a:fillRect l="-1079" t="0" r="0" b="-48106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32205" y="2637817"/>
            <a:ext cx="1770734" cy="514958"/>
          </a:xfrm>
          <a:custGeom>
            <a:avLst/>
            <a:gdLst/>
            <a:ahLst/>
            <a:cxnLst/>
            <a:rect r="r" b="b" t="t" l="l"/>
            <a:pathLst>
              <a:path h="514958" w="1770734">
                <a:moveTo>
                  <a:pt x="0" y="0"/>
                </a:moveTo>
                <a:lnTo>
                  <a:pt x="1770734" y="0"/>
                </a:lnTo>
                <a:lnTo>
                  <a:pt x="1770734" y="514958"/>
                </a:lnTo>
                <a:lnTo>
                  <a:pt x="0" y="514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1000"/>
            </a:blip>
            <a:stretch>
              <a:fillRect l="-29132" t="-196532" r="-26849" b="-23982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02188" y="2552092"/>
            <a:ext cx="10214315" cy="699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8004" indent="-414002" lvl="1">
              <a:lnSpc>
                <a:spcPts val="4602"/>
              </a:lnSpc>
              <a:buFont typeface="Arial"/>
              <a:buChar char="•"/>
            </a:pPr>
            <a:r>
              <a:rPr lang="en-US" sz="38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To-do list applications help organise tasks, but do not guide execution</a:t>
            </a:r>
          </a:p>
          <a:p>
            <a:pPr algn="l" marL="828004" indent="-414002" lvl="1">
              <a:lnSpc>
                <a:spcPts val="4602"/>
              </a:lnSpc>
              <a:buFont typeface="Arial"/>
              <a:buChar char="•"/>
            </a:pPr>
            <a:r>
              <a:rPr lang="en-US" sz="38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Task prioritisation is usually manual and inconsistent</a:t>
            </a:r>
          </a:p>
          <a:p>
            <a:pPr algn="l" marL="828004" indent="-414002" lvl="1">
              <a:lnSpc>
                <a:spcPts val="4602"/>
              </a:lnSpc>
              <a:buFont typeface="Arial"/>
              <a:buChar char="•"/>
            </a:pPr>
            <a:r>
              <a:rPr lang="en-US" sz="38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clear system to evaluate urgency and importance together</a:t>
            </a:r>
          </a:p>
          <a:p>
            <a:pPr algn="l" marL="828004" indent="-414002" lvl="1">
              <a:lnSpc>
                <a:spcPts val="4602"/>
              </a:lnSpc>
              <a:buFont typeface="Arial"/>
              <a:buChar char="•"/>
            </a:pPr>
            <a:r>
              <a:rPr lang="en-US" sz="38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are left to make decisions on their own</a:t>
            </a:r>
          </a:p>
          <a:p>
            <a:pPr algn="l" marL="828004" indent="-414002" lvl="1">
              <a:lnSpc>
                <a:spcPts val="4602"/>
              </a:lnSpc>
              <a:buFont typeface="Arial"/>
              <a:buChar char="•"/>
            </a:pPr>
            <a:r>
              <a:rPr lang="en-US" sz="38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There is a need for a system that not only manages tasks</a:t>
            </a:r>
          </a:p>
          <a:p>
            <a:pPr algn="l" marL="828004" indent="-414002" lvl="1">
              <a:lnSpc>
                <a:spcPts val="4602"/>
              </a:lnSpc>
              <a:buFont typeface="Arial"/>
              <a:buChar char="•"/>
            </a:pPr>
            <a:r>
              <a:rPr lang="en-US" sz="38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but also provides clear direction on what to do next</a:t>
            </a:r>
          </a:p>
          <a:p>
            <a:pPr algn="l">
              <a:lnSpc>
                <a:spcPts val="460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PRODUCTIVITY 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7090"/>
            <a:chOff x="0" y="0"/>
            <a:chExt cx="21945600" cy="1716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16120"/>
            </a:xfrm>
            <a:custGeom>
              <a:avLst/>
              <a:gdLst/>
              <a:ahLst/>
              <a:cxnLst/>
              <a:rect r="r" b="b" t="t" l="l"/>
              <a:pathLst>
                <a:path h="1716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16120"/>
                  </a:lnTo>
                  <a:lnTo>
                    <a:pt x="0" y="1716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42" r="0" b="-19890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9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</a:t>
              </a: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65890" y="1764978"/>
            <a:ext cx="10749630" cy="6110522"/>
          </a:xfrm>
          <a:custGeom>
            <a:avLst/>
            <a:gdLst/>
            <a:ahLst/>
            <a:cxnLst/>
            <a:rect r="r" b="b" t="t" l="l"/>
            <a:pathLst>
              <a:path h="6110522" w="10749630">
                <a:moveTo>
                  <a:pt x="0" y="0"/>
                </a:moveTo>
                <a:lnTo>
                  <a:pt x="10749629" y="0"/>
                </a:lnTo>
                <a:lnTo>
                  <a:pt x="10749629" y="6110522"/>
                </a:lnTo>
                <a:lnTo>
                  <a:pt x="0" y="6110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42" t="-10908" r="-6463" b="-91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02176" y="2416755"/>
            <a:ext cx="6513560" cy="623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6598" indent="-368299" lvl="1">
              <a:lnSpc>
                <a:spcPts val="4094"/>
              </a:lnSpc>
              <a:buFont typeface="Arial"/>
              <a:buChar char="•"/>
            </a:pPr>
            <a:r>
              <a:rPr lang="en-US" sz="3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Task prioritisation system with frontend and backend processing</a:t>
            </a:r>
          </a:p>
          <a:p>
            <a:pPr algn="l" marL="736598" indent="-368299" lvl="1">
              <a:lnSpc>
                <a:spcPts val="4094"/>
              </a:lnSpc>
              <a:buFont typeface="Arial"/>
              <a:buChar char="•"/>
            </a:pPr>
            <a:r>
              <a:rPr lang="en-US" sz="3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Converts task lists into a clear priority order</a:t>
            </a:r>
          </a:p>
          <a:p>
            <a:pPr algn="l" marL="736598" indent="-368299" lvl="1">
              <a:lnSpc>
                <a:spcPts val="4094"/>
              </a:lnSpc>
              <a:buFont typeface="Arial"/>
              <a:buChar char="•"/>
            </a:pPr>
            <a:r>
              <a:rPr lang="en-US" sz="3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Helps users identify what to do next</a:t>
            </a:r>
          </a:p>
          <a:p>
            <a:pPr algn="l" marL="736598" indent="-368299" lvl="1">
              <a:lnSpc>
                <a:spcPts val="4094"/>
              </a:lnSpc>
              <a:buFont typeface="Arial"/>
              <a:buChar char="•"/>
            </a:pPr>
            <a:r>
              <a:rPr lang="en-US" sz="3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Uses deadline urgency and task importance</a:t>
            </a:r>
          </a:p>
          <a:p>
            <a:pPr algn="l" marL="736598" indent="-368299" lvl="1">
              <a:lnSpc>
                <a:spcPts val="4094"/>
              </a:lnSpc>
              <a:buFont typeface="Arial"/>
              <a:buChar char="•"/>
            </a:pPr>
            <a:r>
              <a:rPr lang="en-US" sz="3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Displays tasks in a structured and actionable format</a:t>
            </a:r>
          </a:p>
          <a:p>
            <a:pPr algn="l">
              <a:lnSpc>
                <a:spcPts val="409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PRODUCTIVITY 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1641" y="991383"/>
            <a:ext cx="16627935" cy="1293284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Demo/Product Walkthrough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244886" y="991383"/>
            <a:ext cx="6343318" cy="4438221"/>
          </a:xfrm>
          <a:custGeom>
            <a:avLst/>
            <a:gdLst/>
            <a:ahLst/>
            <a:cxnLst/>
            <a:rect r="r" b="b" t="t" l="l"/>
            <a:pathLst>
              <a:path h="4438221" w="6343318">
                <a:moveTo>
                  <a:pt x="0" y="0"/>
                </a:moveTo>
                <a:lnTo>
                  <a:pt x="6343318" y="0"/>
                </a:lnTo>
                <a:lnTo>
                  <a:pt x="6343318" y="4438221"/>
                </a:lnTo>
                <a:lnTo>
                  <a:pt x="0" y="4438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589" t="-4116" r="-11272" b="-608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44886" y="5677941"/>
            <a:ext cx="6459323" cy="4429300"/>
          </a:xfrm>
          <a:custGeom>
            <a:avLst/>
            <a:gdLst/>
            <a:ahLst/>
            <a:cxnLst/>
            <a:rect r="r" b="b" t="t" l="l"/>
            <a:pathLst>
              <a:path h="4429300" w="6459323">
                <a:moveTo>
                  <a:pt x="0" y="0"/>
                </a:moveTo>
                <a:lnTo>
                  <a:pt x="6459323" y="0"/>
                </a:lnTo>
                <a:lnTo>
                  <a:pt x="6459323" y="4429300"/>
                </a:lnTo>
                <a:lnTo>
                  <a:pt x="0" y="4429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447" t="-5603" r="-5762" b="-366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31641" y="2217991"/>
            <a:ext cx="8313968" cy="665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272" indent="-361636" lvl="1">
              <a:lnSpc>
                <a:spcPts val="4020"/>
              </a:lnSpc>
              <a:buFont typeface="Arial"/>
              <a:buChar char="•"/>
            </a:pPr>
            <a:r>
              <a:rPr lang="en-US" sz="3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enters task name, deadline, and priority through the interface</a:t>
            </a:r>
          </a:p>
          <a:p>
            <a:pPr algn="l" marL="723272" indent="-361636" lvl="1">
              <a:lnSpc>
                <a:spcPts val="4020"/>
              </a:lnSpc>
              <a:buFont typeface="Arial"/>
              <a:buChar char="•"/>
            </a:pPr>
            <a:r>
              <a:rPr lang="en-US" sz="3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frontend sends task data to the backend via API request</a:t>
            </a:r>
          </a:p>
          <a:p>
            <a:pPr algn="l" marL="723272" indent="-361636" lvl="1">
              <a:lnSpc>
                <a:spcPts val="4020"/>
              </a:lnSpc>
              <a:buFont typeface="Arial"/>
              <a:buChar char="•"/>
            </a:pPr>
            <a:r>
              <a:rPr lang="en-US" sz="3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backend processes tasks using prioritisation logic</a:t>
            </a:r>
          </a:p>
          <a:p>
            <a:pPr algn="l" marL="723272" indent="-361636" lvl="1">
              <a:lnSpc>
                <a:spcPts val="4020"/>
              </a:lnSpc>
              <a:buFont typeface="Arial"/>
              <a:buChar char="•"/>
            </a:pPr>
            <a:r>
              <a:rPr lang="en-US" sz="3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Tasks are evaluated based on urgency and importance</a:t>
            </a:r>
          </a:p>
          <a:p>
            <a:pPr algn="l" marL="723272" indent="-361636" lvl="1">
              <a:lnSpc>
                <a:spcPts val="4020"/>
              </a:lnSpc>
              <a:buFont typeface="Arial"/>
              <a:buChar char="•"/>
            </a:pPr>
            <a:r>
              <a:rPr lang="en-US" sz="3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returns a prioritised list of tasks</a:t>
            </a:r>
          </a:p>
          <a:p>
            <a:pPr algn="l" marL="723272" indent="-361636" lvl="1">
              <a:lnSpc>
                <a:spcPts val="4020"/>
              </a:lnSpc>
              <a:buFont typeface="Arial"/>
              <a:buChar char="•"/>
            </a:pPr>
            <a:r>
              <a:rPr lang="en-US" sz="3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highest priority task is displayed at the top</a:t>
            </a:r>
          </a:p>
          <a:p>
            <a:pPr algn="l" marL="723272" indent="-361636" lvl="1">
              <a:lnSpc>
                <a:spcPts val="4020"/>
              </a:lnSpc>
              <a:buFont typeface="Arial"/>
              <a:buChar char="•"/>
            </a:pPr>
            <a:r>
              <a:rPr lang="en-US" sz="3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can view, update, or manage tasks easily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1641" y="9201150"/>
            <a:ext cx="9451130" cy="46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8"/>
              </a:lnSpc>
              <a:spcBef>
                <a:spcPct val="0"/>
              </a:spcBef>
            </a:pPr>
            <a:r>
              <a:rPr lang="en-US" b="true" sz="269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Workflow: </a:t>
            </a: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Login →  Task Management   → AI Productivity Guidance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PRODUCTIVITY 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&amp; Architecture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0052" y="2243725"/>
            <a:ext cx="8682323" cy="734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966" indent="-347483" lvl="1">
              <a:lnSpc>
                <a:spcPts val="3862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developed using HTML, CSS, and JavaScript</a:t>
            </a:r>
          </a:p>
          <a:p>
            <a:pPr algn="l" marL="694966" indent="-347483" lvl="1">
              <a:lnSpc>
                <a:spcPts val="3862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an interface for task input and visualisation</a:t>
            </a:r>
          </a:p>
          <a:p>
            <a:pPr algn="l" marL="694966" indent="-347483" lvl="1">
              <a:lnSpc>
                <a:spcPts val="3862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developed using Node.js</a:t>
            </a:r>
          </a:p>
          <a:p>
            <a:pPr algn="l" marL="694966" indent="-347483" lvl="1">
              <a:lnSpc>
                <a:spcPts val="3862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task processing and prioritisation logic</a:t>
            </a:r>
          </a:p>
          <a:p>
            <a:pPr algn="l" marL="694966" indent="-347483" lvl="1">
              <a:lnSpc>
                <a:spcPts val="3862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Communication between frontend and backend via API requests</a:t>
            </a:r>
          </a:p>
          <a:p>
            <a:pPr algn="l" marL="694966" indent="-347483" lvl="1">
              <a:lnSpc>
                <a:spcPts val="3862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Uses rule-based prioritisation logic inspired by AI decision-making</a:t>
            </a:r>
          </a:p>
          <a:p>
            <a:pPr algn="l" marL="694966" indent="-347483" lvl="1">
              <a:lnSpc>
                <a:spcPts val="3862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Evaluates tasks based on priority level and deadline urgency</a:t>
            </a:r>
          </a:p>
          <a:p>
            <a:pPr algn="l" marL="694966" indent="-347483" lvl="1">
              <a:lnSpc>
                <a:spcPts val="3862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Flow:</a:t>
            </a:r>
          </a:p>
          <a:p>
            <a:pPr algn="l" marL="694966" indent="-347483" lvl="1">
              <a:lnSpc>
                <a:spcPts val="3862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Input → API Request → Processing → Prioritised Output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902785" y="585216"/>
            <a:ext cx="6573367" cy="8865102"/>
          </a:xfrm>
          <a:custGeom>
            <a:avLst/>
            <a:gdLst/>
            <a:ahLst/>
            <a:cxnLst/>
            <a:rect r="r" b="b" t="t" l="l"/>
            <a:pathLst>
              <a:path h="8865102" w="6573367">
                <a:moveTo>
                  <a:pt x="0" y="0"/>
                </a:moveTo>
                <a:lnTo>
                  <a:pt x="6573367" y="0"/>
                </a:lnTo>
                <a:lnTo>
                  <a:pt x="6573367" y="8865102"/>
                </a:lnTo>
                <a:lnTo>
                  <a:pt x="0" y="8865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129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PRODUCTIVITY 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&amp; Use cases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02188" y="2493940"/>
            <a:ext cx="11845186" cy="719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4851" indent="-422426" lvl="1">
              <a:lnSpc>
                <a:spcPts val="4695"/>
              </a:lnSpc>
              <a:buFont typeface="Arial"/>
              <a:buChar char="•"/>
            </a:pPr>
            <a:r>
              <a:rPr lang="en-US" sz="3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Helps students manage assignments and deadlines more effectively</a:t>
            </a:r>
          </a:p>
          <a:p>
            <a:pPr algn="l" marL="844851" indent="-422426" lvl="1">
              <a:lnSpc>
                <a:spcPts val="4695"/>
              </a:lnSpc>
              <a:buFont typeface="Arial"/>
              <a:buChar char="•"/>
            </a:pPr>
            <a:r>
              <a:rPr lang="en-US" sz="3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Assists individuals in organising daily tasks with better clarity</a:t>
            </a:r>
          </a:p>
          <a:p>
            <a:pPr algn="l" marL="844851" indent="-422426" lvl="1">
              <a:lnSpc>
                <a:spcPts val="4695"/>
              </a:lnSpc>
              <a:buFont typeface="Arial"/>
              <a:buChar char="•"/>
            </a:pPr>
            <a:r>
              <a:rPr lang="en-US" sz="3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professionals handling multiple responsibilities</a:t>
            </a:r>
          </a:p>
          <a:p>
            <a:pPr algn="l" marL="844851" indent="-422426" lvl="1">
              <a:lnSpc>
                <a:spcPts val="4695"/>
              </a:lnSpc>
              <a:buFont typeface="Arial"/>
              <a:buChar char="•"/>
            </a:pPr>
            <a:r>
              <a:rPr lang="en-US" sz="3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Enables users to quickly identify what to do next</a:t>
            </a:r>
          </a:p>
          <a:p>
            <a:pPr algn="l" marL="844851" indent="-422426" lvl="1">
              <a:lnSpc>
                <a:spcPts val="4695"/>
              </a:lnSpc>
              <a:buFont typeface="Arial"/>
              <a:buChar char="•"/>
            </a:pPr>
            <a:r>
              <a:rPr lang="en-US" sz="3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decision fatigue and improves task execution</a:t>
            </a:r>
          </a:p>
          <a:p>
            <a:pPr algn="l" marL="844851" indent="-422426" lvl="1">
              <a:lnSpc>
                <a:spcPts val="4695"/>
              </a:lnSpc>
              <a:buFont typeface="Arial"/>
              <a:buChar char="•"/>
            </a:pPr>
            <a:r>
              <a:rPr lang="en-US" sz="3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Applicable across different users and productivity needs</a:t>
            </a:r>
          </a:p>
          <a:p>
            <a:pPr algn="l" marL="844851" indent="-422426" lvl="1">
              <a:lnSpc>
                <a:spcPts val="4695"/>
              </a:lnSpc>
              <a:buFont typeface="Arial"/>
              <a:buChar char="•"/>
            </a:pPr>
            <a:r>
              <a:rPr lang="en-US" sz="3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scalable task handling across different users</a:t>
            </a:r>
          </a:p>
          <a:p>
            <a:pPr algn="l">
              <a:lnSpc>
                <a:spcPts val="469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PRODUCTIVITY 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Differentiation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498335" y="2036484"/>
            <a:ext cx="10193960" cy="7221816"/>
          </a:xfrm>
          <a:custGeom>
            <a:avLst/>
            <a:gdLst/>
            <a:ahLst/>
            <a:cxnLst/>
            <a:rect r="r" b="b" t="t" l="l"/>
            <a:pathLst>
              <a:path h="7221816" w="10193960">
                <a:moveTo>
                  <a:pt x="0" y="0"/>
                </a:moveTo>
                <a:lnTo>
                  <a:pt x="10193960" y="0"/>
                </a:lnTo>
                <a:lnTo>
                  <a:pt x="10193960" y="7221816"/>
                </a:lnTo>
                <a:lnTo>
                  <a:pt x="0" y="7221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66" t="0" r="-316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5677" y="2219325"/>
            <a:ext cx="6661084" cy="714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878" indent="-314939" lvl="1">
              <a:lnSpc>
                <a:spcPts val="3500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Focuses on decision making rather than just task storage</a:t>
            </a:r>
          </a:p>
          <a:p>
            <a:pPr algn="l" marL="629878" indent="-314939" lvl="1">
              <a:lnSpc>
                <a:spcPts val="3500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a clear and actionable priority order</a:t>
            </a:r>
          </a:p>
          <a:p>
            <a:pPr algn="l" marL="629878" indent="-314939" lvl="1">
              <a:lnSpc>
                <a:spcPts val="3500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Helps users quickly identify what to do next</a:t>
            </a:r>
          </a:p>
          <a:p>
            <a:pPr algn="l" marL="629878" indent="-314939" lvl="1">
              <a:lnSpc>
                <a:spcPts val="3500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manual effort in planning and task selection</a:t>
            </a:r>
          </a:p>
          <a:p>
            <a:pPr algn="l" marL="629878" indent="-314939" lvl="1">
              <a:lnSpc>
                <a:spcPts val="3500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Simple, fast, and easy to use</a:t>
            </a:r>
          </a:p>
          <a:p>
            <a:pPr algn="l" marL="629878" indent="-314939" lvl="1">
              <a:lnSpc>
                <a:spcPts val="3500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for immediate practical use without complexity</a:t>
            </a:r>
          </a:p>
          <a:p>
            <a:pPr algn="l" marL="629878" indent="-314939" lvl="1">
              <a:lnSpc>
                <a:spcPts val="3500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Strong advantage: delivers clear prioritisation without overwhelming the user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PRODUCTIVITY 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0160"/>
            <a:chOff x="0" y="0"/>
            <a:chExt cx="2194560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Link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30203" y="2484415"/>
            <a:ext cx="16629097" cy="448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0979" indent="-445490" lvl="1">
              <a:lnSpc>
                <a:spcPts val="4952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Repo : https://github.com/SPrekshitha/MSRIT_ThreeStrikes</a:t>
            </a:r>
          </a:p>
          <a:p>
            <a:pPr algn="l" marL="890979" indent="-445490" lvl="1">
              <a:lnSpc>
                <a:spcPts val="4952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Demo Link : https://drive.google.com/file/d/1E8o8_r-NaRc3GC93z-A7DjBi9de3H0bl/view?usp=drivesdk</a:t>
            </a:r>
          </a:p>
          <a:p>
            <a:pPr algn="l" marL="890979" indent="-445490" lvl="1">
              <a:lnSpc>
                <a:spcPts val="4952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 submitted : https://docs.google.com/document/d/1N84n74HwsHVffZMuEs6nTRuUperrvCzZ/edit?usp=drivesdk&amp;ouid=103594828396681684762&amp;rtpof=true&amp;sd=true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7050" cy="147066"/>
            <a:chOff x="0" y="0"/>
            <a:chExt cx="24409400" cy="19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196088"/>
            </a:xfrm>
            <a:custGeom>
              <a:avLst/>
              <a:gdLst/>
              <a:ahLst/>
              <a:cxnLst/>
              <a:rect r="r" b="b" t="t" l="l"/>
              <a:pathLst>
                <a:path h="196088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83388"/>
                  </a:lnTo>
                  <a:cubicBezTo>
                    <a:pt x="24409400" y="190373"/>
                    <a:pt x="24403686" y="196088"/>
                    <a:pt x="24396700" y="196088"/>
                  </a:cubicBezTo>
                  <a:lnTo>
                    <a:pt x="12700" y="196088"/>
                  </a:lnTo>
                  <a:cubicBezTo>
                    <a:pt x="5715" y="196088"/>
                    <a:pt x="0" y="190373"/>
                    <a:pt x="0" y="1833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83388"/>
                  </a:lnTo>
                  <a:lnTo>
                    <a:pt x="12700" y="183388"/>
                  </a:lnTo>
                  <a:lnTo>
                    <a:pt x="12700" y="170688"/>
                  </a:lnTo>
                  <a:lnTo>
                    <a:pt x="24396700" y="170688"/>
                  </a:lnTo>
                  <a:lnTo>
                    <a:pt x="24396700" y="183388"/>
                  </a:lnTo>
                  <a:lnTo>
                    <a:pt x="24384000" y="18338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875" y="319659"/>
            <a:ext cx="2945130" cy="531114"/>
            <a:chOff x="0" y="0"/>
            <a:chExt cx="3926840" cy="708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77A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26840" cy="708152"/>
            </a:xfrm>
            <a:custGeom>
              <a:avLst/>
              <a:gdLst/>
              <a:ahLst/>
              <a:cxnLst/>
              <a:rect r="r" b="b" t="t" l="l"/>
              <a:pathLst>
                <a:path h="708152" w="3926840">
                  <a:moveTo>
                    <a:pt x="12700" y="0"/>
                  </a:moveTo>
                  <a:lnTo>
                    <a:pt x="3914140" y="0"/>
                  </a:lnTo>
                  <a:cubicBezTo>
                    <a:pt x="3921125" y="0"/>
                    <a:pt x="3926840" y="5715"/>
                    <a:pt x="3926840" y="12700"/>
                  </a:cubicBezTo>
                  <a:lnTo>
                    <a:pt x="3926840" y="695452"/>
                  </a:lnTo>
                  <a:cubicBezTo>
                    <a:pt x="3926840" y="702437"/>
                    <a:pt x="3921125" y="708152"/>
                    <a:pt x="3914140" y="708152"/>
                  </a:cubicBezTo>
                  <a:lnTo>
                    <a:pt x="12700" y="708152"/>
                  </a:lnTo>
                  <a:cubicBezTo>
                    <a:pt x="5715" y="708152"/>
                    <a:pt x="0" y="702437"/>
                    <a:pt x="0" y="6954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95452"/>
                  </a:lnTo>
                  <a:lnTo>
                    <a:pt x="12700" y="695452"/>
                  </a:lnTo>
                  <a:lnTo>
                    <a:pt x="12700" y="682752"/>
                  </a:lnTo>
                  <a:lnTo>
                    <a:pt x="3914140" y="682752"/>
                  </a:lnTo>
                  <a:lnTo>
                    <a:pt x="3914140" y="695452"/>
                  </a:lnTo>
                  <a:lnTo>
                    <a:pt x="3901440" y="695452"/>
                  </a:lnTo>
                  <a:lnTo>
                    <a:pt x="3901440" y="12700"/>
                  </a:lnTo>
                  <a:lnTo>
                    <a:pt x="3914140" y="12700"/>
                  </a:lnTo>
                  <a:lnTo>
                    <a:pt x="39141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29184"/>
            <a:ext cx="2926080" cy="512064"/>
            <a:chOff x="0" y="0"/>
            <a:chExt cx="3901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01440" cy="682752"/>
            </a:xfrm>
            <a:custGeom>
              <a:avLst/>
              <a:gdLst/>
              <a:ahLst/>
              <a:cxnLst/>
              <a:rect r="r" b="b" t="t" l="l"/>
              <a:pathLst>
                <a:path h="68275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PRODUCTIVITY HUB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05840"/>
            <a:ext cx="16459200" cy="1287090"/>
            <a:chOff x="0" y="0"/>
            <a:chExt cx="21945600" cy="1716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716120"/>
            </a:xfrm>
            <a:custGeom>
              <a:avLst/>
              <a:gdLst/>
              <a:ahLst/>
              <a:cxnLst/>
              <a:rect r="r" b="b" t="t" l="l"/>
              <a:pathLst>
                <a:path h="1716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16120"/>
                  </a:lnTo>
                  <a:lnTo>
                    <a:pt x="0" y="1716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42" r="0" b="-19890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1945600" cy="1839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2828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 &amp; Enhancements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871160" y="2570140"/>
            <a:ext cx="6502440" cy="5962237"/>
          </a:xfrm>
          <a:custGeom>
            <a:avLst/>
            <a:gdLst/>
            <a:ahLst/>
            <a:cxnLst/>
            <a:rect r="r" b="b" t="t" l="l"/>
            <a:pathLst>
              <a:path h="5962237" w="6502440">
                <a:moveTo>
                  <a:pt x="0" y="0"/>
                </a:moveTo>
                <a:lnTo>
                  <a:pt x="6502440" y="0"/>
                </a:lnTo>
                <a:lnTo>
                  <a:pt x="6502440" y="5962238"/>
                </a:lnTo>
                <a:lnTo>
                  <a:pt x="0" y="5962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02188" y="2493940"/>
            <a:ext cx="10755635" cy="654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7140" indent="-383570" lvl="1">
              <a:lnSpc>
                <a:spcPts val="4263"/>
              </a:lnSpc>
              <a:buFont typeface="Arial"/>
              <a:buChar char="•"/>
            </a:pPr>
            <a:r>
              <a:rPr lang="en-US" sz="3553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Can be extended with calendar and reminder integration</a:t>
            </a:r>
          </a:p>
          <a:p>
            <a:pPr algn="l" marL="767140" indent="-383570" lvl="1">
              <a:lnSpc>
                <a:spcPts val="4263"/>
              </a:lnSpc>
              <a:buFont typeface="Arial"/>
              <a:buChar char="•"/>
            </a:pPr>
            <a:r>
              <a:rPr lang="en-US" sz="3553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Scope for personalised task prioritisation based on user patterns</a:t>
            </a:r>
          </a:p>
          <a:p>
            <a:pPr algn="l" marL="767140" indent="-383570" lvl="1">
              <a:lnSpc>
                <a:spcPts val="4263"/>
              </a:lnSpc>
              <a:buFont typeface="Arial"/>
              <a:buChar char="•"/>
            </a:pPr>
            <a:r>
              <a:rPr lang="en-US" sz="3553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Potential to include smart notifications and scheduling support</a:t>
            </a:r>
          </a:p>
          <a:p>
            <a:pPr algn="l" marL="767140" indent="-383570" lvl="1">
              <a:lnSpc>
                <a:spcPts val="4263"/>
              </a:lnSpc>
              <a:buFont typeface="Arial"/>
              <a:buChar char="•"/>
            </a:pPr>
            <a:r>
              <a:rPr lang="en-US" sz="3553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Can evolve into a complete productivity assistant</a:t>
            </a:r>
          </a:p>
          <a:p>
            <a:pPr algn="l" marL="767140" indent="-383570" lvl="1">
              <a:lnSpc>
                <a:spcPts val="4263"/>
              </a:lnSpc>
              <a:buFont typeface="Arial"/>
              <a:buChar char="•"/>
            </a:pPr>
            <a:r>
              <a:rPr lang="en-US" sz="3553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to remain simple while expanding functionality</a:t>
            </a:r>
          </a:p>
          <a:p>
            <a:pPr algn="l" marL="767140" indent="-383570" lvl="1">
              <a:lnSpc>
                <a:spcPts val="4263"/>
              </a:lnSpc>
              <a:buFont typeface="Arial"/>
              <a:buChar char="•"/>
            </a:pPr>
            <a:r>
              <a:rPr lang="en-US" sz="3553">
                <a:solidFill>
                  <a:srgbClr val="282828"/>
                </a:solidFill>
                <a:latin typeface="Calibri (MS)"/>
                <a:ea typeface="Calibri (MS)"/>
                <a:cs typeface="Calibri (MS)"/>
                <a:sym typeface="Calibri (MS)"/>
              </a:rPr>
              <a:t>Can support backend based extensions for advanced features</a:t>
            </a:r>
          </a:p>
          <a:p>
            <a:pPr algn="l">
              <a:lnSpc>
                <a:spcPts val="426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DAHIzHmDYyw</dc:identifier>
  <dcterms:modified xsi:type="dcterms:W3CDTF">2011-08-01T06:04:30Z</dcterms:modified>
  <cp:revision>1</cp:revision>
  <dc:title>1College_TeamName.pptx</dc:title>
</cp:coreProperties>
</file>